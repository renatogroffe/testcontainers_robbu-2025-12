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5"/>
  </p:notesMasterIdLst>
  <p:handoutMasterIdLst>
    <p:handoutMasterId r:id="rId26"/>
  </p:handoutMasterIdLst>
  <p:sldIdLst>
    <p:sldId id="1393" r:id="rId8"/>
    <p:sldId id="1774" r:id="rId9"/>
    <p:sldId id="1518" r:id="rId10"/>
    <p:sldId id="1705" r:id="rId11"/>
    <p:sldId id="1812" r:id="rId12"/>
    <p:sldId id="1706" r:id="rId13"/>
    <p:sldId id="1802" r:id="rId14"/>
    <p:sldId id="1810" r:id="rId15"/>
    <p:sldId id="1801" r:id="rId16"/>
    <p:sldId id="1805" r:id="rId17"/>
    <p:sldId id="1806" r:id="rId18"/>
    <p:sldId id="1808" r:id="rId19"/>
    <p:sldId id="1809" r:id="rId20"/>
    <p:sldId id="1811" r:id="rId21"/>
    <p:sldId id="1813" r:id="rId22"/>
    <p:sldId id="1750" r:id="rId23"/>
    <p:sldId id="1814" r:id="rId24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774"/>
            <p14:sldId id="1518"/>
            <p14:sldId id="1705"/>
            <p14:sldId id="1812"/>
            <p14:sldId id="1706"/>
            <p14:sldId id="1802"/>
            <p14:sldId id="1810"/>
            <p14:sldId id="1801"/>
            <p14:sldId id="1805"/>
            <p14:sldId id="1806"/>
            <p14:sldId id="1808"/>
            <p14:sldId id="1809"/>
            <p14:sldId id="1811"/>
            <p14:sldId id="1813"/>
          </p14:sldIdLst>
        </p14:section>
        <p14:section name="Finalizando" id="{CF622469-3E87-46BA-8ED6-912C47B00EF3}">
          <p14:sldIdLst>
            <p14:sldId id="1750"/>
            <p14:sldId id="18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79472" autoAdjust="0"/>
  </p:normalViewPr>
  <p:slideViewPr>
    <p:cSldViewPr>
      <p:cViewPr varScale="1">
        <p:scale>
          <a:sx n="71" d="100"/>
          <a:sy n="71" d="100"/>
        </p:scale>
        <p:origin x="1085" y="408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12/16/2025 6:09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57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838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1DB4-E59A-8B90-50CE-C7EDD089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40E129-0C3C-4942-F934-5A737D70E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29856A-8B4E-28F2-FD8F-654816CFC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2270175B-9A5B-0F52-4845-23E0C07BA72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5D83C9-C540-415B-8076-565210A4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C2285B6-D390-1711-2728-45FBA412995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188723-D452-394A-C7D4-28A74DB621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32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8A44-B348-F5E6-2E3F-41C45D92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29E127-252C-4DCB-5BDC-B17DE2DCA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E9D2B2-8B65-0700-025A-40ECEB806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F1C414D2-F2CC-0FD8-F87E-94B8BD0565D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7A2982-73CF-98B3-83FC-F87AC32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2E973D1-60A3-53BC-7C4B-9258BDE5DC4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526175-C373-00A2-3E8B-7A8F63C94D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881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03725-B8B2-C2A7-FBF4-74213E50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6ABAD4-1265-AF71-3101-4628D7CF6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7034F1-5BA0-2682-BB68-1DC46CC08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63FF447A-F2DB-8792-F445-28CE73A3783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384126-1BA6-B281-0B08-35BAC9B7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257129F0-ABE7-A440-98FB-9BE170824ED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2463A8-854A-B0CA-ED81-466B898B77D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458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A370-31A4-DD2B-811A-5DCB0B96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18933C-5882-F0EB-1C9E-E0FA97C9A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3FBE62-DA29-7803-B6EE-FB2916862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3BEBE5F-2486-5B25-3C32-ED022122BA4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B78344-5C66-27F9-21BA-F4F3CB22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B3D07D9-CE3F-EDF6-632D-1EBD1CB7ED1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227729-5021-F8E1-DA14-0630FD96D9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56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89C8B-07B3-AB73-D43C-02AC6A4C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7F18D8-AD2A-26C0-6090-B78E0FEC9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90A73C-2EB4-48CF-A3BF-247BA3E07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33F11F4B-A169-41E9-A55B-E3780B96A97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272B02-6FEE-897F-29B3-7BD50546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757C1C9-5F21-BE26-852B-CB8A9331244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122DAB-17E9-0BD4-3575-C0277235AE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01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9BE6-99B1-3120-6912-52FF87C7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0F018A-8D73-0CB6-84CB-28E76FEB8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069BBD-680B-0BB2-71C4-1CC8E51D5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27996005-2E41-5D36-4020-D9663615C52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7CC21A-2094-05FD-5A6C-9AB54FE48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F924FA2-1436-64B0-AB83-374F1C0383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9931BF-5537-1241-EBA5-D4CAC8FF61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29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E8D8-A391-68C7-8EB0-C2958B75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E69D2F-47BD-6C75-EC23-EAB0BC1FF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44AA0A-7A09-0BDE-68B8-B91933B4B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08E17CC-A949-2D0B-43D2-FA2CC076314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A85315-EA13-930B-51E7-62EFF104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925659C-D505-0D86-2579-76C0ECFE94F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AD7762-CA0B-2EB1-6C51-874D8E3350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00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D446-5752-DD83-77B2-190705EA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516E5BE-1AD7-7C41-D1F9-78E9A5421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56F82E-6EF3-388F-F7EE-DAFF3793F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438299F-B274-3A93-79BF-01E1E06D0BD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6688B0-E317-DEA7-4806-BD3E0967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E3D0389-CC47-78D7-E582-30B90BBB844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F73B28-D73D-BA83-91C0-78A9480E22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313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654B-468D-2A6F-F623-2E746EDF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4D4BD7-9103-8E05-1C37-B7FC7A7F8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7A4FEF-34E7-DAA8-2376-09A8924AC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227A664-B745-05C9-89F5-EE5A69D200A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86249D-C282-24B2-A94C-712B7927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83DA363-FF95-77CE-69DA-222962BEA90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12/16/2025 6:08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31852C-530C-6441-4ACD-A92A62193D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034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12/16/2025 6:08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C2EA2-0899-1957-02AC-299BF2A2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DFB08-2F23-E240-4AEB-AF3810061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A8315-559B-2B20-D3CC-E418B6CB5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F3CA542-5101-137B-49F6-1114CC41B74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6BC69-D97F-9295-81BD-FA8D7F38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CC69E8-3704-51AF-7B3C-77D7EE6AD3B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12/16/2025 6:09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81304-7821-156B-411C-D1FE58CD96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25791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14B947-4B50-6BDF-8625-9B13AF074B9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8988" y="6839585"/>
            <a:ext cx="71437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Informações Internas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68B810-6609-4C5E-A281-2DA3C48A38B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8988" y="6839585"/>
            <a:ext cx="71437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Informações Internas</a:t>
            </a:r>
          </a:p>
        </p:txBody>
      </p: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E2D907-64F4-61DB-4DCE-61A332B1E1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8988" y="6839585"/>
            <a:ext cx="71437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Informações Internas</a:t>
            </a:r>
          </a:p>
        </p:txBody>
      </p: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5C5214-0E15-4A51-6118-971898E898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8988" y="6839585"/>
            <a:ext cx="71437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Informações Internas</a:t>
            </a:r>
          </a:p>
        </p:txBody>
      </p: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14.sv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220662"/>
            <a:ext cx="11201400" cy="2297169"/>
          </a:xfrm>
        </p:spPr>
        <p:txBody>
          <a:bodyPr/>
          <a:lstStyle/>
          <a:p>
            <a:r>
              <a:rPr lang="pt-BR" b="1" dirty="0" err="1"/>
              <a:t>Testcontainers</a:t>
            </a:r>
            <a:br>
              <a:rPr lang="pt-BR" b="1" dirty="0"/>
            </a:br>
            <a:r>
              <a:rPr lang="pt-BR" sz="4400" b="1" dirty="0"/>
              <a:t>Turbinando e descomplicando a automação de Testes de Integração</a:t>
            </a:r>
            <a:endParaRPr lang="pt-BR" sz="3200" dirty="0"/>
          </a:p>
        </p:txBody>
      </p:sp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FBDA6EF-1FF4-1884-E318-C9775D5221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80" y="2920617"/>
            <a:ext cx="611147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201D6DD-AF01-9F91-5B80-9492EDAF4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5920754"/>
            <a:ext cx="1135344" cy="940713"/>
          </a:xfrm>
          <a:prstGeom prst="rect">
            <a:avLst/>
          </a:prstGeom>
        </p:spPr>
      </p:pic>
      <p:pic>
        <p:nvPicPr>
          <p:cNvPr id="8" name="Imagem 7" descr="Uma imagem contendo desenho&#10;&#10;Descrição gerada automaticamente">
            <a:extLst>
              <a:ext uri="{FF2B5EF4-FFF2-40B4-BE49-F238E27FC236}">
                <a16:creationId xmlns:a16="http://schemas.microsoft.com/office/drawing/2014/main" id="{BEC2F40D-43DA-E908-1DC7-9C6F44E87D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90" r="25492"/>
          <a:stretch/>
        </p:blipFill>
        <p:spPr>
          <a:xfrm>
            <a:off x="4008437" y="5920754"/>
            <a:ext cx="2752086" cy="8992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DC353829-066A-CDF2-7C87-82757FF195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18637" y="3497262"/>
            <a:ext cx="1956476" cy="1544995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95431B8D-C0D7-5A30-EA4A-B65658143A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1957963" y="-5113338"/>
            <a:ext cx="29637845" cy="7773861"/>
          </a:xfrm>
          <a:prstGeom prst="rect">
            <a:avLst/>
          </a:prstGeom>
        </p:spPr>
      </p:pic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F6614279-41EB-4E7D-6EBB-D2AA0BF72F4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74785"/>
          <a:stretch/>
        </p:blipFill>
        <p:spPr>
          <a:xfrm>
            <a:off x="8095618" y="1910087"/>
            <a:ext cx="1965900" cy="20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238303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614" y="324965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726" y="2935975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042" y="3934147"/>
            <a:ext cx="1733820" cy="17338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226" y="3802062"/>
            <a:ext cx="1905000" cy="1905000"/>
          </a:xfrm>
          <a:prstGeom prst="rect">
            <a:avLst/>
          </a:prstGeom>
        </p:spPr>
      </p:pic>
      <p:pic>
        <p:nvPicPr>
          <p:cNvPr id="4" name="Imagem 3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A06F26B8-365D-D997-ED41-5D7D50D105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3342" y="5707062"/>
            <a:ext cx="2052933" cy="64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7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519205"/>
            <a:ext cx="11810999" cy="190205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Testes de integração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Testcontainers</a:t>
            </a:r>
            <a:r>
              <a:rPr lang="pt-BR" sz="3600" dirty="0">
                <a:solidFill>
                  <a:srgbClr val="494949"/>
                </a:solidFill>
              </a:rPr>
              <a:t>: uma visão geral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9BBE3-FFD8-C06A-9F07-14B1ADA7C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837" y="4640262"/>
            <a:ext cx="63912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Testes de Integração: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36317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Validação de um ou mais módulos em uma aplicação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Montagem de um ambiente que simula o que será encontrado em Produção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Necessidade de configurar dependências como serviços de bancos de dados, mensageria, </a:t>
            </a:r>
            <a:r>
              <a:rPr lang="pt-BR" sz="2800" dirty="0" err="1">
                <a:solidFill>
                  <a:srgbClr val="494949"/>
                </a:solidFill>
              </a:rPr>
              <a:t>caching</a:t>
            </a:r>
            <a:r>
              <a:rPr lang="pt-BR" sz="2800" dirty="0">
                <a:solidFill>
                  <a:srgbClr val="494949"/>
                </a:solidFill>
              </a:rPr>
              <a:t>…</a:t>
            </a: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F1D332AE-C191-4AB2-9514-602F022CA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237" y="2760443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031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Testes de Integração: dificuldades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403860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Dependências de uma aplicação podem se revelar um pesadelo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Configurar rapidamente um ambiente nem sempre é simples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Por questões de complexidade nem sempre esses testes são executados</a:t>
            </a:r>
          </a:p>
        </p:txBody>
      </p:sp>
      <p:pic>
        <p:nvPicPr>
          <p:cNvPr id="6" name="Imagem 5" descr="Ícone&#10;&#10;Descrição gerada automaticamente">
            <a:extLst>
              <a:ext uri="{FF2B5EF4-FFF2-40B4-BE49-F238E27FC236}">
                <a16:creationId xmlns:a16="http://schemas.microsoft.com/office/drawing/2014/main" id="{184F829F-B4CB-4613-94F6-1B9952EA1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237" y="2760443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265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Tecnologias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que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simplificam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a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automação</a:t>
            </a:r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190205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Soluções como Azure </a:t>
            </a:r>
            <a:r>
              <a:rPr lang="pt-BR" sz="3600" dirty="0" err="1">
                <a:solidFill>
                  <a:srgbClr val="494949"/>
                </a:solidFill>
              </a:rPr>
              <a:t>DevOps</a:t>
            </a:r>
            <a:r>
              <a:rPr lang="pt-BR" sz="3600" dirty="0">
                <a:solidFill>
                  <a:srgbClr val="494949"/>
                </a:solidFill>
              </a:rPr>
              <a:t> e GitHub </a:t>
            </a:r>
            <a:r>
              <a:rPr lang="pt-BR" sz="3600" dirty="0" err="1">
                <a:solidFill>
                  <a:srgbClr val="494949"/>
                </a:solidFill>
              </a:rPr>
              <a:t>Actions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Linux, Containers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Ferramentas de linha de comando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12FF3A3-B9C0-4863-95C2-02A19BE04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9038" y="4207363"/>
            <a:ext cx="1260657" cy="1260657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52F88852-CDFC-0F1D-D5AC-34A908664C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9123" y="4181999"/>
            <a:ext cx="1327277" cy="132727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881A94-13B9-D08C-BDA9-A7D2AC797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837" y="4192486"/>
            <a:ext cx="1219200" cy="1463040"/>
          </a:xfrm>
          <a:prstGeom prst="rect">
            <a:avLst/>
          </a:prstGeom>
        </p:spPr>
      </p:pic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1C596A59-2CF1-AE28-41C1-5B5F3CE52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753" y="4207363"/>
            <a:ext cx="1327540" cy="132754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29C252C0-9C2D-F844-7010-A6FD82E952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04037" y="4207363"/>
            <a:ext cx="1680773" cy="132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8186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D311-9E2F-950F-0726-896E4447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D3346-C215-AC24-9ADF-3E7BBA62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o que é?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6CFC96-7194-822B-D315-FC2A7287AC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144" y="1668462"/>
            <a:ext cx="8381893" cy="41242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Biblioteca 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r>
              <a:rPr lang="pt-BR" sz="3200" b="1" dirty="0">
                <a:solidFill>
                  <a:srgbClr val="494949"/>
                </a:solidFill>
              </a:rPr>
              <a:t> para rápida criação de containers para testes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Evitar o uso de </a:t>
            </a:r>
            <a:r>
              <a:rPr lang="pt-BR" sz="3200" dirty="0" err="1">
                <a:solidFill>
                  <a:srgbClr val="494949"/>
                </a:solidFill>
              </a:rPr>
              <a:t>mocks</a:t>
            </a:r>
            <a:r>
              <a:rPr lang="pt-BR" sz="3200" dirty="0">
                <a:solidFill>
                  <a:srgbClr val="494949"/>
                </a:solidFill>
              </a:rPr>
              <a:t> ou configurações de ambiente mais complexas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Suporte a tecnologias de bancos de dados, serviços em nuvem, mensageria...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DF9BDA-C637-4264-F516-35AEA8F1F9A7}"/>
              </a:ext>
            </a:extLst>
          </p:cNvPr>
          <p:cNvSpPr txBox="1"/>
          <p:nvPr/>
        </p:nvSpPr>
        <p:spPr>
          <a:xfrm>
            <a:off x="1036637" y="6029282"/>
            <a:ext cx="11113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https://testcontainers.com/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9B57A108-7BCC-0FBA-2DF0-3D23F7D43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2844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FBDD-EB4D-D9CD-A332-14466BC7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112E1-24C9-77E6-E100-CC087677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 x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Infraestrutura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869F1C-8A1B-B4F4-2288-CECB7F829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144" y="1668463"/>
            <a:ext cx="8381893" cy="505369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Dispensa</a:t>
            </a:r>
            <a:r>
              <a:rPr lang="pt-BR" sz="2800" dirty="0">
                <a:solidFill>
                  <a:srgbClr val="494949"/>
                </a:solidFill>
              </a:rPr>
              <a:t> o uso de </a:t>
            </a:r>
            <a:r>
              <a:rPr lang="pt-BR" sz="2800" b="1" dirty="0">
                <a:solidFill>
                  <a:srgbClr val="494949"/>
                </a:solidFill>
              </a:rPr>
              <a:t>Docker </a:t>
            </a:r>
            <a:r>
              <a:rPr lang="pt-BR" sz="2800" b="1" dirty="0" err="1">
                <a:solidFill>
                  <a:srgbClr val="494949"/>
                </a:solidFill>
              </a:rPr>
              <a:t>Compose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e de soluções de </a:t>
            </a:r>
            <a:r>
              <a:rPr lang="pt-BR" sz="2800" b="1" dirty="0">
                <a:solidFill>
                  <a:srgbClr val="494949"/>
                </a:solidFill>
              </a:rPr>
              <a:t>Infra as </a:t>
            </a:r>
            <a:r>
              <a:rPr lang="pt-BR" sz="2800" b="1" dirty="0" err="1">
                <a:solidFill>
                  <a:srgbClr val="494949"/>
                </a:solidFill>
              </a:rPr>
              <a:t>Code</a:t>
            </a:r>
            <a:r>
              <a:rPr lang="pt-BR" sz="2800" b="1" dirty="0">
                <a:solidFill>
                  <a:srgbClr val="494949"/>
                </a:solidFill>
              </a:rPr>
              <a:t> (</a:t>
            </a:r>
            <a:r>
              <a:rPr lang="pt-BR" sz="2800" b="1" dirty="0" err="1">
                <a:solidFill>
                  <a:srgbClr val="494949"/>
                </a:solidFill>
              </a:rPr>
              <a:t>IaC</a:t>
            </a:r>
            <a:r>
              <a:rPr lang="pt-BR" sz="2800" b="1" dirty="0">
                <a:solidFill>
                  <a:srgbClr val="494949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Menor custo</a:t>
            </a:r>
            <a:r>
              <a:rPr lang="pt-BR" sz="2800" dirty="0">
                <a:solidFill>
                  <a:srgbClr val="494949"/>
                </a:solidFill>
              </a:rPr>
              <a:t>, por não necessitar do uso de servidores e de serviços em nuvem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Produtividade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Soluções de automação como </a:t>
            </a:r>
            <a:r>
              <a:rPr lang="pt-BR" sz="2800" b="1" dirty="0">
                <a:solidFill>
                  <a:srgbClr val="494949"/>
                </a:solidFill>
              </a:rPr>
              <a:t>Azure </a:t>
            </a:r>
            <a:r>
              <a:rPr lang="pt-BR" sz="2800" b="1" dirty="0" err="1">
                <a:solidFill>
                  <a:srgbClr val="494949"/>
                </a:solidFill>
              </a:rPr>
              <a:t>DevOps</a:t>
            </a:r>
            <a:r>
              <a:rPr lang="pt-BR" sz="2800" dirty="0">
                <a:solidFill>
                  <a:srgbClr val="494949"/>
                </a:solidFill>
              </a:rPr>
              <a:t> e </a:t>
            </a:r>
            <a:r>
              <a:rPr lang="pt-BR" sz="2800" b="1" dirty="0">
                <a:solidFill>
                  <a:srgbClr val="494949"/>
                </a:solidFill>
              </a:rPr>
              <a:t>GitHub </a:t>
            </a:r>
            <a:r>
              <a:rPr lang="pt-BR" sz="2800" b="1" dirty="0" err="1">
                <a:solidFill>
                  <a:srgbClr val="494949"/>
                </a:solidFill>
              </a:rPr>
              <a:t>Actions</a:t>
            </a:r>
            <a:r>
              <a:rPr lang="pt-BR" sz="2800" dirty="0">
                <a:solidFill>
                  <a:srgbClr val="494949"/>
                </a:solidFill>
              </a:rPr>
              <a:t> também suportam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3D6F5700-1EEC-FFD3-3BEE-C3F8917C27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783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2848-94AC-18E3-2C61-846091D6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40A65-4253-A2CA-C298-2DDF1E0F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onde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utilizar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?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6C0111-C6BF-CE7A-36F7-B26DB4A575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144" y="2129008"/>
            <a:ext cx="8381893" cy="312085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Testes de integração em aplicações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Testes de aceitação em UI/Web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Desenvolvimento e provas de conceito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F3AB0DAA-3EC1-721A-9B9C-9948A56726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5131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2E3B-508A-DFD8-C82E-10F9B3E6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84B2A-B631-C0AD-18E3-4665E149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stacks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suportadas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6359ED0A-7A87-F2B0-CA5A-3353A6F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49C2C48-1DD7-6913-F7CA-C09DD8555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26" y="1753904"/>
            <a:ext cx="8221222" cy="186716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3F89400-F3B6-9AA5-D358-14BB0536C2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12"/>
          <a:stretch/>
        </p:blipFill>
        <p:spPr>
          <a:xfrm>
            <a:off x="274639" y="3557641"/>
            <a:ext cx="8686797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624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D829-F191-3B03-C4DE-DF21C7E4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5EC08-C911-2CBB-114D-8E06B6B1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requisitos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67339C-60A4-8693-DECA-78A76EA53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37" y="2163607"/>
            <a:ext cx="8381893" cy="301005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Ambiente com a capacidade de executar </a:t>
            </a:r>
            <a:r>
              <a:rPr lang="pt-BR" sz="3600" b="1" dirty="0">
                <a:solidFill>
                  <a:srgbClr val="494949"/>
                </a:solidFill>
              </a:rPr>
              <a:t>containers Docker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Suporte a </a:t>
            </a:r>
            <a:r>
              <a:rPr lang="pt-BR" sz="3600" b="1" dirty="0">
                <a:solidFill>
                  <a:srgbClr val="494949"/>
                </a:solidFill>
              </a:rPr>
              <a:t>Windows, Linux, </a:t>
            </a:r>
            <a:r>
              <a:rPr lang="pt-BR" sz="3600" b="1" dirty="0" err="1">
                <a:solidFill>
                  <a:srgbClr val="494949"/>
                </a:solidFill>
              </a:rPr>
              <a:t>macOS</a:t>
            </a:r>
            <a:endParaRPr lang="pt-BR" sz="3600" b="1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2138C9A8-5426-7499-ED99-C94EED11CF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1960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53B6-4ABB-C478-7CDF-B542B06B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8BD71-3688-AC43-D23D-4AAD1264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funcionamento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8C6537-AF49-D835-0E21-680CE18AA2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37" y="1921208"/>
            <a:ext cx="8381893" cy="317625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Um container (baseado na i</a:t>
            </a:r>
            <a:r>
              <a:rPr lang="pt-BR" sz="3600" b="1" dirty="0">
                <a:solidFill>
                  <a:srgbClr val="494949"/>
                </a:solidFill>
              </a:rPr>
              <a:t>magem </a:t>
            </a:r>
            <a:r>
              <a:rPr lang="pt-BR" sz="3600" b="1" dirty="0" err="1">
                <a:solidFill>
                  <a:srgbClr val="494949"/>
                </a:solidFill>
              </a:rPr>
              <a:t>testcontainers</a:t>
            </a:r>
            <a:r>
              <a:rPr lang="pt-BR" sz="3600" b="1" dirty="0">
                <a:solidFill>
                  <a:srgbClr val="494949"/>
                </a:solidFill>
              </a:rPr>
              <a:t>/</a:t>
            </a:r>
            <a:r>
              <a:rPr lang="pt-BR" sz="3600" b="1" dirty="0" err="1">
                <a:solidFill>
                  <a:srgbClr val="494949"/>
                </a:solidFill>
              </a:rPr>
              <a:t>ryuk</a:t>
            </a:r>
            <a:r>
              <a:rPr lang="pt-BR" sz="3600" dirty="0">
                <a:solidFill>
                  <a:srgbClr val="494949"/>
                </a:solidFill>
              </a:rPr>
              <a:t>) é gerado quando da utilização da biblioteca, tendo por responsabilidade gerenciar dentro da aplicação os demais containers gerados.</a:t>
            </a:r>
            <a:endParaRPr lang="pt-BR" sz="3600" b="1" dirty="0">
              <a:solidFill>
                <a:srgbClr val="494949"/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7CDC6BC2-049D-6F46-F03C-DA90EB98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104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692F-EAB2-7245-A8C4-54D9CDF6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14B57-4138-6B22-FAA1-1A48D4F8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funcionamento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217FD3-D3FC-450C-8DAD-F5AC60D964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37" y="2004409"/>
            <a:ext cx="8381893" cy="33978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Imagens necessárias são baixadas automaticamente</a:t>
            </a:r>
            <a:r>
              <a:rPr lang="pt-BR" sz="3600" dirty="0">
                <a:solidFill>
                  <a:srgbClr val="494949"/>
                </a:solidFill>
              </a:rPr>
              <a:t>, caso não existam no ambiente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Todos os containers são encerrados removidos após o término da aplicação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47427D0E-4040-4B86-C428-88C2BAC5F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9050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F467-D91C-D54D-E11A-37C60B5FD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F0063-B197-8BE5-CD45-70A2248D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boas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práticas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0FA4CF-DA1F-ABEF-5604-E20CDAA645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7" y="1668462"/>
            <a:ext cx="8381893" cy="41180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Evitar o uso de portas fixas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Evitar </a:t>
            </a:r>
            <a:r>
              <a:rPr lang="pt-BR" sz="3600" dirty="0" err="1">
                <a:solidFill>
                  <a:srgbClr val="494949"/>
                </a:solidFill>
              </a:rPr>
              <a:t>hardcode</a:t>
            </a:r>
            <a:r>
              <a:rPr lang="pt-BR" sz="3600" dirty="0">
                <a:solidFill>
                  <a:srgbClr val="494949"/>
                </a:solidFill>
              </a:rPr>
              <a:t> com </a:t>
            </a:r>
            <a:r>
              <a:rPr lang="pt-BR" sz="3600" dirty="0" err="1">
                <a:solidFill>
                  <a:srgbClr val="494949"/>
                </a:solidFill>
              </a:rPr>
              <a:t>hostname</a:t>
            </a:r>
            <a:r>
              <a:rPr lang="pt-BR" sz="3600" dirty="0">
                <a:solidFill>
                  <a:srgbClr val="494949"/>
                </a:solidFill>
              </a:rPr>
              <a:t>, nome do container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Utilizar as mesmas versões de produção (evitar </a:t>
            </a:r>
            <a:r>
              <a:rPr lang="pt-BR" sz="3600" dirty="0" err="1">
                <a:solidFill>
                  <a:srgbClr val="494949"/>
                </a:solidFill>
              </a:rPr>
              <a:t>tags</a:t>
            </a:r>
            <a:r>
              <a:rPr lang="pt-BR" sz="3600" dirty="0">
                <a:solidFill>
                  <a:srgbClr val="494949"/>
                </a:solidFill>
              </a:rPr>
              <a:t> </a:t>
            </a:r>
            <a:r>
              <a:rPr lang="pt-BR" sz="3600" dirty="0" err="1">
                <a:solidFill>
                  <a:srgbClr val="494949"/>
                </a:solidFill>
              </a:rPr>
              <a:t>latest</a:t>
            </a:r>
            <a:r>
              <a:rPr lang="pt-BR" sz="3600" dirty="0">
                <a:solidFill>
                  <a:srgbClr val="494949"/>
                </a:solidFill>
              </a:rPr>
              <a:t>)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7E53A74E-6ED7-3750-99FE-A04DB38171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2301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48E2-16C8-29A1-2B10-290BFFE2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F23B5-3EAC-297D-3127-18665B4C5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9982198" cy="917575"/>
          </a:xfrm>
        </p:spPr>
        <p:txBody>
          <a:bodyPr/>
          <a:lstStyle/>
          <a:p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Testcontainers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: boas </a:t>
            </a:r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práticas</a:t>
            </a:r>
            <a:endParaRPr lang="pt-BR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759FA5-1A0D-59C4-7AC1-C7AC3FB7A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37" y="1592263"/>
            <a:ext cx="8381893" cy="461664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Copiar arquivos para containers ao invés de utilizar volumes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Utilizar módulos específicos ao invés de criar containers de forma genérica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Empregar estratégias de </a:t>
            </a:r>
            <a:r>
              <a:rPr lang="pt-BR" sz="3600" dirty="0" err="1">
                <a:solidFill>
                  <a:srgbClr val="494949"/>
                </a:solidFill>
              </a:rPr>
              <a:t>Wait</a:t>
            </a:r>
            <a:r>
              <a:rPr lang="pt-BR" sz="3600" dirty="0">
                <a:solidFill>
                  <a:srgbClr val="494949"/>
                </a:solidFill>
              </a:rPr>
              <a:t> durante a inicialização dos containers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8C85F1F6-41A8-01A6-53F8-55707D5B7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785"/>
          <a:stretch/>
        </p:blipFill>
        <p:spPr>
          <a:xfrm>
            <a:off x="9342437" y="2401569"/>
            <a:ext cx="2344690" cy="24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5004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037" y="2201862"/>
            <a:ext cx="4876800" cy="2179058"/>
          </a:xfrm>
        </p:spPr>
        <p:txBody>
          <a:bodyPr/>
          <a:lstStyle/>
          <a:p>
            <a:pPr algn="ctr"/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EE6E6-6B34-1C6F-BB76-5B2149E8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AA855C60-8D30-FB58-9560-5D92B7BEF403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501A300-7383-683D-1BA1-D2F699D25AB1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27614BEE-C77C-D888-A823-97A312527A6D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09B18-38EF-4E6E-2E9D-04734B7137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5C3349FC-6C91-A20E-9B90-02583271E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73156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2777</TotalTime>
  <Words>973</Words>
  <Application>Microsoft Office PowerPoint</Application>
  <PresentationFormat>Personalizar</PresentationFormat>
  <Paragraphs>148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Aptos</vt:lpstr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Testcontainers Turbinando e descomplicando a automação de Testes de Integração</vt:lpstr>
      <vt:lpstr>Renato Groffe</vt:lpstr>
      <vt:lpstr>Agenda</vt:lpstr>
      <vt:lpstr>Testes de Integração: uma visão geral</vt:lpstr>
      <vt:lpstr>Testes de Integração: dificuldades</vt:lpstr>
      <vt:lpstr>Tecnologias que simplificam a automação</vt:lpstr>
      <vt:lpstr>Testcontainers: o que é?</vt:lpstr>
      <vt:lpstr>Testcontainers x Infraestrutura</vt:lpstr>
      <vt:lpstr>Testcontainers: onde utilizar?</vt:lpstr>
      <vt:lpstr>Testcontainers: stacks suportadas</vt:lpstr>
      <vt:lpstr>Testcontainers: requisitos</vt:lpstr>
      <vt:lpstr>Testcontainers: funcionamento</vt:lpstr>
      <vt:lpstr>Testcontainers: funcionamento</vt:lpstr>
      <vt:lpstr>Testcontainers: boas práticas</vt:lpstr>
      <vt:lpstr>Testcontainers: boas práticas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520</cp:revision>
  <dcterms:created xsi:type="dcterms:W3CDTF">2016-08-05T22:03:34Z</dcterms:created>
  <dcterms:modified xsi:type="dcterms:W3CDTF">2025-12-16T21:09:24Z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  <property fmtid="{D5CDD505-2E9C-101B-9397-08002B2CF9AE}" pid="14" name="MSIP_Label_2d8b0667-0416-4939-b829-9a083fc335bd_Enabled">
    <vt:lpwstr>true</vt:lpwstr>
  </property>
  <property fmtid="{D5CDD505-2E9C-101B-9397-08002B2CF9AE}" pid="15" name="MSIP_Label_2d8b0667-0416-4939-b829-9a083fc335bd_SetDate">
    <vt:lpwstr>2025-10-07T21:26:40Z</vt:lpwstr>
  </property>
  <property fmtid="{D5CDD505-2E9C-101B-9397-08002B2CF9AE}" pid="16" name="MSIP_Label_2d8b0667-0416-4939-b829-9a083fc335bd_Method">
    <vt:lpwstr>Standard</vt:lpwstr>
  </property>
  <property fmtid="{D5CDD505-2E9C-101B-9397-08002B2CF9AE}" pid="17" name="MSIP_Label_2d8b0667-0416-4939-b829-9a083fc335bd_Name">
    <vt:lpwstr>Informações Internas</vt:lpwstr>
  </property>
  <property fmtid="{D5CDD505-2E9C-101B-9397-08002B2CF9AE}" pid="18" name="MSIP_Label_2d8b0667-0416-4939-b829-9a083fc335bd_SiteId">
    <vt:lpwstr>e79034b6-c14f-4d3e-a08f-d8d7d4643271</vt:lpwstr>
  </property>
  <property fmtid="{D5CDD505-2E9C-101B-9397-08002B2CF9AE}" pid="19" name="MSIP_Label_2d8b0667-0416-4939-b829-9a083fc335bd_ActionId">
    <vt:lpwstr>26f89b00-e3ae-4f94-b686-9416b019a36f</vt:lpwstr>
  </property>
  <property fmtid="{D5CDD505-2E9C-101B-9397-08002B2CF9AE}" pid="20" name="MSIP_Label_2d8b0667-0416-4939-b829-9a083fc335bd_ContentBits">
    <vt:lpwstr>2</vt:lpwstr>
  </property>
  <property fmtid="{D5CDD505-2E9C-101B-9397-08002B2CF9AE}" pid="21" name="MSIP_Label_2d8b0667-0416-4939-b829-9a083fc335bd_Tag">
    <vt:lpwstr>10, 3, 0, 1</vt:lpwstr>
  </property>
  <property fmtid="{D5CDD505-2E9C-101B-9397-08002B2CF9AE}" pid="22" name="ClassificationContentMarkingFooterLocations">
    <vt:lpwstr>5-50002_Ignite_Breakout_Template:6\1_5-50002_Ignite_Breakout_Template:6\5-30721_Build_2016_Template_Light:5\5-30721_Build_2016_Template_Dark:5</vt:lpwstr>
  </property>
  <property fmtid="{D5CDD505-2E9C-101B-9397-08002B2CF9AE}" pid="23" name="ClassificationContentMarkingFooterText">
    <vt:lpwstr>Informações Internas</vt:lpwstr>
  </property>
</Properties>
</file>